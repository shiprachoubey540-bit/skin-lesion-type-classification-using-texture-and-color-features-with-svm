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ishya Krishna k v" userId="ed86e9bc217d14d7" providerId="LiveId" clId="{E753E1A6-A45F-41DF-AF77-41682871DD60}"/>
    <pc:docChg chg="custSel modSld">
      <pc:chgData name="Drishya Krishna k v" userId="ed86e9bc217d14d7" providerId="LiveId" clId="{E753E1A6-A45F-41DF-AF77-41682871DD60}" dt="2026-04-21T03:57:08.985" v="168" actId="729"/>
      <pc:docMkLst>
        <pc:docMk/>
      </pc:docMkLst>
      <pc:sldChg chg="addSp delSp modSp mod">
        <pc:chgData name="Drishya Krishna k v" userId="ed86e9bc217d14d7" providerId="LiveId" clId="{E753E1A6-A45F-41DF-AF77-41682871DD60}" dt="2026-04-20T16:07:24.345" v="67" actId="14100"/>
        <pc:sldMkLst>
          <pc:docMk/>
          <pc:sldMk cId="0" sldId="263"/>
        </pc:sldMkLst>
        <pc:spChg chg="del">
          <ac:chgData name="Drishya Krishna k v" userId="ed86e9bc217d14d7" providerId="LiveId" clId="{E753E1A6-A45F-41DF-AF77-41682871DD60}" dt="2026-04-20T16:06:31.861" v="58" actId="478"/>
          <ac:spMkLst>
            <pc:docMk/>
            <pc:sldMk cId="0" sldId="263"/>
            <ac:spMk id="4" creationId="{00000000-0000-0000-0000-000000000000}"/>
          </ac:spMkLst>
        </pc:spChg>
        <pc:spChg chg="del mod">
          <ac:chgData name="Drishya Krishna k v" userId="ed86e9bc217d14d7" providerId="LiveId" clId="{E753E1A6-A45F-41DF-AF77-41682871DD60}" dt="2026-04-20T16:06:49.850" v="63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Drishya Krishna k v" userId="ed86e9bc217d14d7" providerId="LiveId" clId="{E753E1A6-A45F-41DF-AF77-41682871DD60}" dt="2026-04-20T16:06:55.746" v="64" actId="478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Drishya Krishna k v" userId="ed86e9bc217d14d7" providerId="LiveId" clId="{E753E1A6-A45F-41DF-AF77-41682871DD60}" dt="2026-04-20T16:06:35.016" v="59" actId="478"/>
          <ac:spMkLst>
            <pc:docMk/>
            <pc:sldMk cId="0" sldId="263"/>
            <ac:spMk id="10" creationId="{00000000-0000-0000-0000-000000000000}"/>
          </ac:spMkLst>
        </pc:spChg>
        <pc:graphicFrameChg chg="del">
          <ac:chgData name="Drishya Krishna k v" userId="ed86e9bc217d14d7" providerId="LiveId" clId="{E753E1A6-A45F-41DF-AF77-41682871DD60}" dt="2026-04-20T16:05:13.920" v="0" actId="478"/>
          <ac:graphicFrameMkLst>
            <pc:docMk/>
            <pc:sldMk cId="0" sldId="263"/>
            <ac:graphicFrameMk id="6" creationId="{00000000-0000-0000-0000-000000000000}"/>
          </ac:graphicFrameMkLst>
        </pc:graphicFrameChg>
        <pc:graphicFrameChg chg="del">
          <ac:chgData name="Drishya Krishna k v" userId="ed86e9bc217d14d7" providerId="LiveId" clId="{E753E1A6-A45F-41DF-AF77-41682871DD60}" dt="2026-04-20T16:05:21.208" v="1" actId="478"/>
          <ac:graphicFrameMkLst>
            <pc:docMk/>
            <pc:sldMk cId="0" sldId="263"/>
            <ac:graphicFrameMk id="8" creationId="{00000000-0000-0000-0000-000000000000}"/>
          </ac:graphicFrameMkLst>
        </pc:graphicFrameChg>
        <pc:picChg chg="add mod">
          <ac:chgData name="Drishya Krishna k v" userId="ed86e9bc217d14d7" providerId="LiveId" clId="{E753E1A6-A45F-41DF-AF77-41682871DD60}" dt="2026-04-20T16:07:24.345" v="67" actId="14100"/>
          <ac:picMkLst>
            <pc:docMk/>
            <pc:sldMk cId="0" sldId="263"/>
            <ac:picMk id="16" creationId="{BD5F0715-716D-F2EE-F4DB-FA30BD3487B5}"/>
          </ac:picMkLst>
        </pc:picChg>
      </pc:sldChg>
      <pc:sldChg chg="addSp delSp modSp mod">
        <pc:chgData name="Drishya Krishna k v" userId="ed86e9bc217d14d7" providerId="LiveId" clId="{E753E1A6-A45F-41DF-AF77-41682871DD60}" dt="2026-04-20T16:30:10.149" v="89" actId="14100"/>
        <pc:sldMkLst>
          <pc:docMk/>
          <pc:sldMk cId="0" sldId="264"/>
        </pc:sldMkLst>
        <pc:graphicFrameChg chg="del">
          <ac:chgData name="Drishya Krishna k v" userId="ed86e9bc217d14d7" providerId="LiveId" clId="{E753E1A6-A45F-41DF-AF77-41682871DD60}" dt="2026-04-20T16:29:35.076" v="84" actId="478"/>
          <ac:graphicFrameMkLst>
            <pc:docMk/>
            <pc:sldMk cId="0" sldId="264"/>
            <ac:graphicFrameMk id="4" creationId="{00000000-0000-0000-0000-000000000000}"/>
          </ac:graphicFrameMkLst>
        </pc:graphicFrameChg>
        <pc:picChg chg="add mod">
          <ac:chgData name="Drishya Krishna k v" userId="ed86e9bc217d14d7" providerId="LiveId" clId="{E753E1A6-A45F-41DF-AF77-41682871DD60}" dt="2026-04-20T16:30:10.149" v="89" actId="14100"/>
          <ac:picMkLst>
            <pc:docMk/>
            <pc:sldMk cId="0" sldId="264"/>
            <ac:picMk id="27" creationId="{2041A849-E832-630C-5B44-DC103274B294}"/>
          </ac:picMkLst>
        </pc:picChg>
      </pc:sldChg>
      <pc:sldChg chg="delSp modSp mod modShow">
        <pc:chgData name="Drishya Krishna k v" userId="ed86e9bc217d14d7" providerId="LiveId" clId="{E753E1A6-A45F-41DF-AF77-41682871DD60}" dt="2026-04-21T03:57:08.985" v="168" actId="729"/>
        <pc:sldMkLst>
          <pc:docMk/>
          <pc:sldMk cId="0" sldId="265"/>
        </pc:sldMkLst>
        <pc:spChg chg="mod">
          <ac:chgData name="Drishya Krishna k v" userId="ed86e9bc217d14d7" providerId="LiveId" clId="{E753E1A6-A45F-41DF-AF77-41682871DD60}" dt="2026-04-21T03:39:52.605" v="166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rishya Krishna k v" userId="ed86e9bc217d14d7" providerId="LiveId" clId="{E753E1A6-A45F-41DF-AF77-41682871DD60}" dt="2026-04-20T16:56:04.296" v="114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Drishya Krishna k v" userId="ed86e9bc217d14d7" providerId="LiveId" clId="{E753E1A6-A45F-41DF-AF77-41682871DD60}" dt="2026-04-20T16:55:38.994" v="110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Drishya Krishna k v" userId="ed86e9bc217d14d7" providerId="LiveId" clId="{E753E1A6-A45F-41DF-AF77-41682871DD60}" dt="2026-04-20T16:55:31.781" v="109" actId="1076"/>
          <ac:spMkLst>
            <pc:docMk/>
            <pc:sldMk cId="0" sldId="265"/>
            <ac:spMk id="7" creationId="{00000000-0000-0000-0000-000000000000}"/>
          </ac:spMkLst>
        </pc:spChg>
        <pc:spChg chg="del">
          <ac:chgData name="Drishya Krishna k v" userId="ed86e9bc217d14d7" providerId="LiveId" clId="{E753E1A6-A45F-41DF-AF77-41682871DD60}" dt="2026-04-20T16:52:58.156" v="94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Drishya Krishna k v" userId="ed86e9bc217d14d7" providerId="LiveId" clId="{E753E1A6-A45F-41DF-AF77-41682871DD60}" dt="2026-04-20T16:53:07.059" v="95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Drishya Krishna k v" userId="ed86e9bc217d14d7" providerId="LiveId" clId="{E753E1A6-A45F-41DF-AF77-41682871DD60}" dt="2026-04-20T16:52:53.772" v="93" actId="47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rishya Krishna k v" userId="ed86e9bc217d14d7" providerId="LiveId" clId="{E753E1A6-A45F-41DF-AF77-41682871DD60}" dt="2026-04-20T17:24:07.751" v="150" actId="20577"/>
          <ac:spMkLst>
            <pc:docMk/>
            <pc:sldMk cId="0" sldId="265"/>
            <ac:spMk id="11" creationId="{00000000-0000-0000-0000-000000000000}"/>
          </ac:spMkLst>
        </pc:spChg>
        <pc:spChg chg="del">
          <ac:chgData name="Drishya Krishna k v" userId="ed86e9bc217d14d7" providerId="LiveId" clId="{E753E1A6-A45F-41DF-AF77-41682871DD60}" dt="2026-04-20T16:31:23.788" v="90" actId="478"/>
          <ac:spMkLst>
            <pc:docMk/>
            <pc:sldMk cId="0" sldId="265"/>
            <ac:spMk id="12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540"/>
                </a:solidFill>
                <a:latin typeface="Arial"/>
              </a:rPr>
              <a:t>Class Distribution (Original Dataset)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A5E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C7-4D7E-9AB8-476BA1C028EA}"/>
              </c:ext>
            </c:extLst>
          </c:dPt>
          <c:dPt>
            <c:idx val="1"/>
            <c:invertIfNegative val="0"/>
            <c:bubble3D val="0"/>
            <c:spPr>
              <a:solidFill>
                <a:srgbClr val="E07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C7-4D7E-9AB8-476BA1C028EA}"/>
              </c:ext>
            </c:extLst>
          </c:dPt>
          <c:dPt>
            <c:idx val="2"/>
            <c:invertIfNegative val="0"/>
            <c:bubble3D val="0"/>
            <c:spPr>
              <a:solidFill>
                <a:srgbClr val="0F8B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C7-4D7E-9AB8-476BA1C028EA}"/>
              </c:ext>
            </c:extLst>
          </c:dPt>
          <c:dPt>
            <c:idx val="3"/>
            <c:invertIfNegative val="0"/>
            <c:bubble3D val="0"/>
            <c:spPr>
              <a:solidFill>
                <a:srgbClr val="8B4F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C7-4D7E-9AB8-476BA1C028E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1C7-4D7E-9AB8-476BA1C028EA}"/>
              </c:ext>
            </c:extLst>
          </c:dPt>
          <c:dPt>
            <c:idx val="5"/>
            <c:invertIfNegative val="0"/>
            <c:bubble3D val="0"/>
            <c:spPr>
              <a:solidFill>
                <a:srgbClr val="E07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C7-4D7E-9AB8-476BA1C028EA}"/>
              </c:ext>
            </c:extLst>
          </c:dPt>
          <c:dPt>
            <c:idx val="6"/>
            <c:invertIfNegative val="0"/>
            <c:bubble3D val="0"/>
            <c:spPr>
              <a:solidFill>
                <a:srgbClr val="0F8B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1C7-4D7E-9AB8-476BA1C028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Nevi</c:v>
                </c:pt>
                <c:pt idx="1">
                  <c:v>Melanoma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6705</c:v>
                </c:pt>
                <c:pt idx="1">
                  <c:v>1113</c:v>
                </c:pt>
                <c:pt idx="2">
                  <c:v>1099</c:v>
                </c:pt>
                <c:pt idx="3">
                  <c:v>514</c:v>
                </c:pt>
                <c:pt idx="4">
                  <c:v>327</c:v>
                </c:pt>
                <c:pt idx="5">
                  <c:v>142</c:v>
                </c:pt>
                <c:pt idx="6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1C7-4D7E-9AB8-476BA1C028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1A5E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D9-439A-A024-D9375530A827}"/>
              </c:ext>
            </c:extLst>
          </c:dPt>
          <c:dPt>
            <c:idx val="1"/>
            <c:invertIfNegative val="0"/>
            <c:bubble3D val="0"/>
            <c:spPr>
              <a:solidFill>
                <a:srgbClr val="E07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D9-439A-A024-D9375530A827}"/>
              </c:ext>
            </c:extLst>
          </c:dPt>
          <c:dPt>
            <c:idx val="2"/>
            <c:invertIfNegative val="0"/>
            <c:bubble3D val="0"/>
            <c:spPr>
              <a:solidFill>
                <a:srgbClr val="0F8B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D9-439A-A024-D9375530A827}"/>
              </c:ext>
            </c:extLst>
          </c:dPt>
          <c:dPt>
            <c:idx val="3"/>
            <c:invertIfNegative val="0"/>
            <c:bubble3D val="0"/>
            <c:spPr>
              <a:solidFill>
                <a:srgbClr val="8B4F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D9-439A-A024-D9375530A82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0D9-439A-A024-D9375530A827}"/>
              </c:ext>
            </c:extLst>
          </c:dPt>
          <c:dPt>
            <c:idx val="5"/>
            <c:invertIfNegative val="0"/>
            <c:bubble3D val="0"/>
            <c:spPr>
              <a:solidFill>
                <a:srgbClr val="E07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0D9-439A-A024-D9375530A827}"/>
              </c:ext>
            </c:extLst>
          </c:dPt>
          <c:dPt>
            <c:idx val="6"/>
            <c:invertIfNegative val="0"/>
            <c:bubble3D val="0"/>
            <c:spPr>
              <a:solidFill>
                <a:srgbClr val="0F8B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D9-439A-A024-D9375530A827}"/>
              </c:ext>
            </c:extLst>
          </c:dPt>
          <c:cat>
            <c:strRef>
              <c:f>Sheet1!$A$2:$A$8</c:f>
              <c:strCache>
                <c:ptCount val="7"/>
                <c:pt idx="0">
                  <c:v>Nevi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5364</c:v>
                </c:pt>
                <c:pt idx="1">
                  <c:v>890</c:v>
                </c:pt>
                <c:pt idx="2">
                  <c:v>879</c:v>
                </c:pt>
                <c:pt idx="3">
                  <c:v>411</c:v>
                </c:pt>
                <c:pt idx="4">
                  <c:v>261</c:v>
                </c:pt>
                <c:pt idx="5">
                  <c:v>113</c:v>
                </c:pt>
                <c:pt idx="6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0D9-439A-A024-D9375530A8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0F8B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29-435D-BBCF-00A3AB9CF2A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729-435D-BBCF-00A3AB9CF2A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729-435D-BBCF-00A3AB9CF2A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729-435D-BBCF-00A3AB9CF2A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729-435D-BBCF-00A3AB9CF2A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729-435D-BBCF-00A3AB9CF2A9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729-435D-BBCF-00A3AB9CF2A9}"/>
              </c:ext>
            </c:extLst>
          </c:dPt>
          <c:cat>
            <c:strRef>
              <c:f>Sheet1!$A$2:$A$8</c:f>
              <c:strCache>
                <c:ptCount val="7"/>
                <c:pt idx="0">
                  <c:v>Nevi</c:v>
                </c:pt>
                <c:pt idx="1">
                  <c:v>Mel</c:v>
                </c:pt>
                <c:pt idx="2">
                  <c:v>BKL</c:v>
                </c:pt>
                <c:pt idx="3">
                  <c:v>BCC</c:v>
                </c:pt>
                <c:pt idx="4">
                  <c:v>AKIEC</c:v>
                </c:pt>
                <c:pt idx="5">
                  <c:v>Vasc</c:v>
                </c:pt>
                <c:pt idx="6">
                  <c:v>DF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5364</c:v>
                </c:pt>
                <c:pt idx="1">
                  <c:v>5364</c:v>
                </c:pt>
                <c:pt idx="2">
                  <c:v>5364</c:v>
                </c:pt>
                <c:pt idx="3">
                  <c:v>5364</c:v>
                </c:pt>
                <c:pt idx="4">
                  <c:v>5364</c:v>
                </c:pt>
                <c:pt idx="5">
                  <c:v>5364</c:v>
                </c:pt>
                <c:pt idx="6">
                  <c:v>5364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729-435D-BBCF-00A3AB9CF2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290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prachoubey540-bit/Skin-Lesion-Type-Classification-Using-Texture-and-Color-Features-with-SVM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00400"/>
            <a:ext cx="8979408" cy="54864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29260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Skin Lesion Type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Texture &amp; Colour Features — SVM · Random Forest · XGBoost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011680" cy="29260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&amp; Preprocessing</a:t>
            </a: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 Engineering &amp; Modelling</a:t>
            </a: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Evaluation &amp;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—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286000" cy="822960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595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E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10,015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3167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Dermoscopy images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286000" cy="822960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653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E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23225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2286000" cy="822960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8712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E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3328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(nevi)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2286000" cy="822960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8770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5E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0040" y="4334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777240"/>
            <a:ext cx="5989320" cy="382219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34640" y="777240"/>
            <a:ext cx="54864" cy="382219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86868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99232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 is the most common cancer globally — early detection is critical for survival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 use the ABCD rule (Asymmetry, Border, Colour, Diameter) — we mimic this computationally with handcrafted features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classify 7 lesion types from images without deep learning, making the system interpretable and lightweight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meaningful: a model must perform well on rare, high-risk classes (melanoma, BCC) not just the majority class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HAM10000 — 10,015 dermoscopy images from the ISIC archive with expert-verified diagnoses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— HAM10000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3152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749808"/>
            <a:ext cx="2971800" cy="77724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749808"/>
            <a:ext cx="54864" cy="77724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98464" y="804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class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98464" y="987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98464" y="12618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6,705 images (67%)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664208"/>
            <a:ext cx="2971800" cy="77724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664208"/>
            <a:ext cx="54864" cy="77724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98464" y="17190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Rarest class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98464" y="1901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98464" y="21762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images (1.1%)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52160" y="2578608"/>
            <a:ext cx="2971800" cy="77724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0" y="2578608"/>
            <a:ext cx="54864" cy="77724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8464" y="2633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98464" y="2816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128×128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98464" y="30906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from original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3493008"/>
            <a:ext cx="2971800" cy="77724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52160" y="3493008"/>
            <a:ext cx="54864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98464" y="35478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98464" y="37307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SMOTE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98464" y="40050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train set only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 — Stage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LEAD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Cleaning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060704"/>
            <a:ext cx="411480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60704"/>
            <a:ext cx="54864" cy="80467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1155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value 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24712"/>
            <a:ext cx="1051560" cy="18288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247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NaNs fixed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1335024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57 missing (0.6%)  |  path: 0  |  dx: 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554480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missing age using dropna(subset=['age'])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93392"/>
            <a:ext cx="411480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93392"/>
            <a:ext cx="54864" cy="804672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482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image IDs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057400"/>
            <a:ext cx="1051560" cy="18288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0574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rows removed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" y="2267712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lesions have multiple images — lesion_id repeats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2487168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all rows; lesion_id is informational only and dropped from features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11480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54864" cy="8046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809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 encoding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90088"/>
            <a:ext cx="1051560" cy="1828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99008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NaN leakage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200400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'male', 'female', 'unknown'  →  3 unique categories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3419856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male→0, female→1, unknown→2 using .map().fillna(2).astype(int)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4114800" cy="80467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58768"/>
            <a:ext cx="54864" cy="80467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913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Localization encoding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922776"/>
            <a:ext cx="1051560" cy="18288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392277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dummy cols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413308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unique body-site strings (abdomen, back, chest, etc.)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" y="4352544"/>
            <a:ext cx="3858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— one-hot encode into ~15 binary columns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7132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Outlier Detection in Metadata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63440" y="1060704"/>
            <a:ext cx="4160520" cy="1389888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060704"/>
            <a:ext cx="54864" cy="138988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1155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distribution check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28032" y="13533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 – 85 years  |  Mean: ~52  |  IQR: 35–65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2332736"/>
            <a:ext cx="493776" cy="44704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39572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94960" y="2153920"/>
            <a:ext cx="493776" cy="22352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0" y="239572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961888" y="1874520"/>
            <a:ext cx="493776" cy="50292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239572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528816" y="2064512"/>
            <a:ext cx="493776" cy="31292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239572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095744" y="2343912"/>
            <a:ext cx="493776" cy="3352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95744" y="239572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28032" y="257860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extreme outliers — values within clinical range (5–85 yrs). No capping needed.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926080"/>
            <a:ext cx="4160520" cy="91440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2926080"/>
            <a:ext cx="54864" cy="9144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980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 feature outlier removal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8032" y="32186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border_irregularity can spike to 50+ for poorly segmented images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28032" y="3474720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where border_irregularity &gt; 15 (hard threshold based on distribution inspection)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3913632"/>
            <a:ext cx="4160520" cy="71323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3913632"/>
            <a:ext cx="54864" cy="7132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3968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GLCM &amp; HSV feature scaling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28032" y="4206240"/>
            <a:ext cx="3858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values range 0–1 inherently. HSV histograms are L1-normalised. StandardScaler applied before training to z-score all features and remove scale-based bias.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Preprocessing Pipeline — Stage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LEAD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49808"/>
            <a:ext cx="4187952" cy="34747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804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8046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ZIP archives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1152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archives: HAM10000_images_part_1.zip &amp; part_2.zip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408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to data/part1/ and data/part2/ using zipfile module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1664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10,015 .jpg images across both folders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7498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749808"/>
            <a:ext cx="4187952" cy="347472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8046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3792" y="8046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image IDs to paths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1521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both folders, build dict: {image_id → file_path}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14081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path into metadata df via df['path'] = df['image_id'].map(image_path)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16642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df['path'].isnull().sum() == 0 (no missing paths)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214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21408"/>
            <a:ext cx="4187952" cy="34747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1762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21762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&amp; resize images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each image with cv2.imread() — returns BGR array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" y="2779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sizes vary (450×600 to 600×450 px)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30358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128×128 px using cv2.resize() — standard for feature extraction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18304" y="21214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18304" y="2121408"/>
            <a:ext cx="4187952" cy="347472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1762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21762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Normalise &amp; convert colour space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25237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GLCM: convert BGR→Grayscale via cv2.cvtColor(img, COLOR_BGR2GRAY)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7797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intensity levels 0–255 → 0–15 for GLCM efficiency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30358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HSV: convert BGR→HSV via cv2.cvtColor(img, COLOR_BGR2HSV)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34930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493008"/>
            <a:ext cx="4187952" cy="3474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5478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35478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resized images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" y="3895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resized images to data/resized/ with original filenames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41513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cv2.imwrite() preserves .jpg format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2336" y="44074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all feature extraction reads from data/resized/  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18304" y="3493008"/>
            <a:ext cx="4187952" cy="1225296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18304" y="3493008"/>
            <a:ext cx="4187952" cy="34747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54787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93792" y="3547872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output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64608" y="389534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files in data/resized/ — must match 10,015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64608" y="41513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Spot-check: load 5 random images, confirm shape == (128, 128, 3)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64608" y="440740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no corrupt files: img is None check inside loop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" y="4626864"/>
            <a:ext cx="8631936" cy="182880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47472" y="4636008"/>
            <a:ext cx="8449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10,015 images at 128×128 px  |  Colour spaces: BGR (shape), Grayscale (GLCM), HSV (colour histograms)  |  Saved to data/resized/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Pipeline — 10-Stage Data Science Lifecycle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508760" cy="6583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0789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749808"/>
            <a:ext cx="1508760" cy="6583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74980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789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749808"/>
            <a:ext cx="1508760" cy="6583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74980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0789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0" y="749808"/>
            <a:ext cx="1508760" cy="6583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74980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95160" y="10789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749808"/>
            <a:ext cx="150876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74980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600200"/>
            <a:ext cx="2606040" cy="74980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002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(contrast, energy,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homogeneity)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72768" y="1408176"/>
            <a:ext cx="0" cy="192024"/>
          </a:xfrm>
          <a:prstGeom prst="line">
            <a:avLst/>
          </a:prstGeom>
          <a:noFill/>
          <a:ln w="12700">
            <a:solidFill>
              <a:srgbClr val="0F8B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600200"/>
            <a:ext cx="2606040" cy="74980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6002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(16-bin histograms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H, S, V channel)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98848" y="1408176"/>
            <a:ext cx="0" cy="192024"/>
          </a:xfrm>
          <a:prstGeom prst="line">
            <a:avLst/>
          </a:prstGeom>
          <a:noFill/>
          <a:ln w="12700">
            <a:solidFill>
              <a:srgbClr val="0F8B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600200"/>
            <a:ext cx="2606040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60020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 Shape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(asymmetry,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irregularity)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24928" y="1408176"/>
            <a:ext cx="0" cy="192024"/>
          </a:xfrm>
          <a:prstGeom prst="line">
            <a:avLst/>
          </a:prstGeom>
          <a:noFill/>
          <a:ln w="12700">
            <a:solidFill>
              <a:srgbClr val="0F8B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350008"/>
            <a:ext cx="0" cy="256032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606040"/>
            <a:ext cx="150876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6060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83080" y="2935224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0" y="2606040"/>
            <a:ext cx="1508760" cy="6583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26060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20440" y="2935224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2606040"/>
            <a:ext cx="150876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6060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57800" y="2935224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2606040"/>
            <a:ext cx="150876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6060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95160" y="2935224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2606040"/>
            <a:ext cx="150876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2606040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3264408"/>
            <a:ext cx="0" cy="22860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3493008"/>
            <a:ext cx="1828800" cy="6583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4930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77440" y="38221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06040" y="3493008"/>
            <a:ext cx="1828800" cy="6583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34930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34840" y="38221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493008"/>
            <a:ext cx="1828800" cy="6583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4930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92240" y="3822192"/>
            <a:ext cx="228600" cy="0"/>
          </a:xfrm>
          <a:prstGeom prst="line">
            <a:avLst/>
          </a:prstGeom>
          <a:noFill/>
          <a:ln w="19050">
            <a:solidFill>
              <a:srgbClr val="B0BDD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20840" y="3493008"/>
            <a:ext cx="1828800" cy="6583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20840" y="349300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GitHub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4320" y="65836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1–2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011680" y="658368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— Stage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LEAD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31520"/>
            <a:ext cx="2706624" cy="391363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31520"/>
            <a:ext cx="2706624" cy="502920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498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GLCM Texture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per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Gray-level co-occurrence matrix on grayscale image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contrast, correlation, energy, homogeneity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Distances: [1, 3]  |  Angles: 0°, 45°, 90°, 135°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+ std per property = 8 values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surface texture patterns in the lesion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5536" y="731520"/>
            <a:ext cx="2706624" cy="391363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45536" y="731520"/>
            <a:ext cx="2706624" cy="50292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6976" y="7498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HSV Colour Histograms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36976" y="100584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features per image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55264" y="1325880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BGR image to HSV colour space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16-bin histogram for each channel: Hue, Saturation, Value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to sum to 1 (L1-norm)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16 × 3 = 48 features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colour distribution — key for melanoma vs benign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731520"/>
            <a:ext cx="2706624" cy="3913632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731520"/>
            <a:ext cx="2706624" cy="50292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749808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ABCD Shape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00584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 per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44768" y="1325880"/>
            <a:ext cx="248716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lesion using Otsu thresholding + morphological ops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pixel-level flip difference normalised by area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irregularity: perimeter² / (4π × area) — circularity index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clinical ABCD dermoscopy criteria directly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Dermatologists use these same criteria for diagnosis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4572000"/>
            <a:ext cx="8631936" cy="237744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4581144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 vector: 58 dimensions per image  |  No deep learning — fully interpretable handcrafted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SMOTE — Handling Class Imbalance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LEAD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SMOTE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96012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0" y="71323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SMOTE (training set)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572000" y="960120"/>
          <a:ext cx="4251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3794760"/>
            <a:ext cx="8503920" cy="86868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" y="3794760"/>
            <a:ext cx="54864" cy="8686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SMOTE works: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k-nearest neighbours of each minority class sample → interpolates new synthetic points between them → equalises all class counts.  Applied ONLY to the training set — the test set remains untouched to prevent data leakage.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 — SVM · Random Forest · XGBoost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6459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LEAD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685800"/>
            <a:ext cx="8631936" cy="347472"/>
          </a:xfrm>
          <a:prstGeom prst="rect">
            <a:avLst/>
          </a:prstGeom>
          <a:solidFill>
            <a:srgbClr val="E8F0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SMOTE-balanced data  →  StandardScaler (fit on train only)  →  Three classifiers trained in parallel  →  .pkl files saved for deployment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115568"/>
            <a:ext cx="2743200" cy="356616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115568"/>
            <a:ext cx="2743200" cy="438912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338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SVM (RBF Kernel)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804672" cy="2011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64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07008" y="1664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(Radial Basis Function)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48256"/>
            <a:ext cx="804672" cy="2011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07008" y="2048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regularisation strength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804672" cy="2011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07008" y="24323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auto from feature variance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804672" cy="20116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07008" y="281635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needed for confidence scores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218688"/>
            <a:ext cx="2523744" cy="54864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9184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high-dimensional feature spaces. Maximises margin between classes — robust against overfitting with proper C tuning.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82112" y="1115568"/>
            <a:ext cx="2743200" cy="356616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82112" y="1115568"/>
            <a:ext cx="2743200" cy="438912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11338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91840" y="1664208"/>
            <a:ext cx="804672" cy="2011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1664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33088" y="1664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2048256"/>
            <a:ext cx="804672" cy="2011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2048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33088" y="2048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2432304"/>
            <a:ext cx="804672" cy="2011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4323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33088" y="24323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bagging reduces variance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2816352"/>
            <a:ext cx="804672" cy="20116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8163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33088" y="281635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— all CPU cores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3218688"/>
            <a:ext cx="2523744" cy="54864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29184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3474720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reduces variance. Handles non-linearity well and provides feature importance natively.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08192" y="1115568"/>
            <a:ext cx="2743200" cy="3566160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08192" y="1115568"/>
            <a:ext cx="2743200" cy="43891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11338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0" y="1664208"/>
            <a:ext cx="804672" cy="2011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166420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059168" y="16642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boosting rounds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2048256"/>
            <a:ext cx="804672" cy="2011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20482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59168" y="2048256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— conservative, prevents overfit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17920" y="2432304"/>
            <a:ext cx="804672" cy="2011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243230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059168" y="2432304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tree depth limit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17920" y="2816352"/>
            <a:ext cx="804672" cy="20116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281635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059168" y="281635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mlogloss — multiclass log loss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17920" y="3218688"/>
            <a:ext cx="2523744" cy="5486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329184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17920" y="3474720"/>
            <a:ext cx="25237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focuses on misclassified samples each round. State-of-the-art on tabular/feature-based tasks.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Class-wise Sensitivity &amp; Specificity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682114"/>
              </p:ext>
            </p:extLst>
          </p:nvPr>
        </p:nvGraphicFramePr>
        <p:xfrm>
          <a:off x="320040" y="713232"/>
          <a:ext cx="8503920" cy="15087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8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8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8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8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F8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17A979-6DCF-0B9D-100B-8923116353DA}"/>
              </a:ext>
            </a:extLst>
          </p:cNvPr>
          <p:cNvSpPr txBox="1"/>
          <p:nvPr/>
        </p:nvSpPr>
        <p:spPr>
          <a:xfrm>
            <a:off x="7881322" y="181764"/>
            <a:ext cx="988358" cy="2308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member 3 lead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5F0715-716D-F2EE-F4DB-FA30BD348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3" y="2340864"/>
            <a:ext cx="8828651" cy="24632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Group Comparison — Clinical Discriminators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669280" y="7772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0" y="1188720"/>
            <a:ext cx="315468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1188720"/>
            <a:ext cx="54864" cy="749808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188720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8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63056" y="128016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 is the strongest single discriminator — consistent with ABCD criteria where colour variation is a primary melanoma indicator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69280" y="2066544"/>
            <a:ext cx="315468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066544"/>
            <a:ext cx="54864" cy="749808"/>
          </a:xfrm>
          <a:prstGeom prst="rect">
            <a:avLst/>
          </a:prstGeom>
          <a:solidFill>
            <a:srgbClr val="1A5EAB"/>
          </a:solidFill>
          <a:ln w="12700">
            <a:solidFill>
              <a:srgbClr val="1A5EA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066544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E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63056" y="2157984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 adds significant value — lesion surface roughness differs across benign and malignant types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0" y="2944368"/>
            <a:ext cx="315468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2944368"/>
            <a:ext cx="54864" cy="749808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2944368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63056" y="3035808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features alone underperform due to segmentation sensitivity — but contribute when combined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3822192"/>
            <a:ext cx="3154680" cy="749808"/>
          </a:xfrm>
          <a:prstGeom prst="rect">
            <a:avLst/>
          </a:prstGeom>
          <a:solidFill>
            <a:srgbClr val="F4F7FA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669280" y="3822192"/>
            <a:ext cx="54864" cy="74980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3822192"/>
            <a:ext cx="384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63056" y="3913632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all three groups gives the best accuracy — feature fusion is essential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4672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Lesion Classification — Project #16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33D43D-D33D-96CB-BF9D-AAB80DAC37F1}"/>
              </a:ext>
            </a:extLst>
          </p:cNvPr>
          <p:cNvSpPr txBox="1"/>
          <p:nvPr/>
        </p:nvSpPr>
        <p:spPr>
          <a:xfrm>
            <a:off x="7881322" y="181764"/>
            <a:ext cx="988358" cy="2308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member 3 lead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041A849-E832-630C-5B44-DC103274B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924"/>
            <a:ext cx="5486400" cy="42606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8B72"/>
          </a:solidFill>
          <a:ln w="12700">
            <a:solidFill>
              <a:srgbClr val="0F8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434840"/>
            <a:ext cx="8979408" cy="54864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02856" y="181825"/>
            <a:ext cx="37349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18382" y="768096"/>
            <a:ext cx="7054946" cy="3024554"/>
          </a:xfrm>
          <a:prstGeom prst="rect">
            <a:avLst/>
          </a:prstGeom>
          <a:solidFill>
            <a:srgbClr val="0D2040"/>
          </a:solidFill>
          <a:ln w="6350">
            <a:solidFill>
              <a:srgbClr val="B0BD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84573" y="1053847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achieved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09689" y="1622357"/>
            <a:ext cx="611592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7 skin lesion types from images without any deep learning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70 handcrafted features: GLCM texture(20), HSV color(48), ABCD shape(2)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balanced 7 imbalanced classes — prevented majority-class bias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best macro F1 across all 3 models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 features are the strongest single clinical discriminator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10-stage data science lifecycle followed end-to-end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deployment with real-time lesion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526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Repo:  </a:t>
            </a: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https://github.com/shiprachoubey540-bit/Skin-Lesion-Type-Classification-Using-Texture-and-Color-Features-with-SVM.git</a:t>
            </a:r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  </a:t>
            </a:r>
          </a:p>
          <a:p>
            <a:pPr algn="ctr"/>
            <a:r>
              <a:rPr lang="en-US" sz="1000" dirty="0">
                <a:solidFill>
                  <a:srgbClr val="B0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App:  app.py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AD5D4E-4996-7B0B-9F4F-70289711C839}"/>
              </a:ext>
            </a:extLst>
          </p:cNvPr>
          <p:cNvSpPr txBox="1"/>
          <p:nvPr/>
        </p:nvSpPr>
        <p:spPr>
          <a:xfrm>
            <a:off x="7787193" y="332640"/>
            <a:ext cx="988358" cy="2308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member 3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1604</Words>
  <Application>Microsoft Office PowerPoint</Application>
  <PresentationFormat>On-screen Show (16:9)</PresentationFormat>
  <Paragraphs>282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Lesion Classification — Project #16</dc:title>
  <dc:subject>PptxGenJS Presentation</dc:subject>
  <dc:creator>PptxGenJS</dc:creator>
  <cp:lastModifiedBy>Drishya Krishna k v</cp:lastModifiedBy>
  <cp:revision>3</cp:revision>
  <dcterms:created xsi:type="dcterms:W3CDTF">2026-04-06T05:43:17Z</dcterms:created>
  <dcterms:modified xsi:type="dcterms:W3CDTF">2026-04-21T05:00:26Z</dcterms:modified>
</cp:coreProperties>
</file>